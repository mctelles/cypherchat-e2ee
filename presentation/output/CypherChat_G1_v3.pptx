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16638fe7df4b0c" /><Relationship Type="http://schemas.openxmlformats.org/officeDocument/2006/relationships/extended-properties" Target="/docProps/app.xml" Id="Rbdd7dc49bd5d4a12" /><Relationship Type="http://schemas.openxmlformats.org/officeDocument/2006/relationships/officeDocument" Target="/ppt/presentation.xml" Id="R3577a9a2a2bf44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d6bf5cab804aea"/>
  </p:sldMasterIdLst>
  <p:notesMasterIdLst>
    <p:notesMasterId xmlns:r="http://schemas.openxmlformats.org/officeDocument/2006/relationships" r:id="R74a943f6a03c4c64"/>
  </p:notesMasterIdLst>
  <p:sldIdLst>
    <p:sldId xmlns:r="http://schemas.openxmlformats.org/officeDocument/2006/relationships" id="256" r:id="R79a441e9178c448e"/>
    <p:sldId xmlns:r="http://schemas.openxmlformats.org/officeDocument/2006/relationships" id="257" r:id="Rfa47f714a7224dff"/>
    <p:sldId xmlns:r="http://schemas.openxmlformats.org/officeDocument/2006/relationships" id="258" r:id="R196c8af4edd643f7"/>
    <p:sldId xmlns:r="http://schemas.openxmlformats.org/officeDocument/2006/relationships" id="259" r:id="R2bb55ea7c1394fc7"/>
    <p:sldId xmlns:r="http://schemas.openxmlformats.org/officeDocument/2006/relationships" id="260" r:id="R02975dd0b217412e"/>
    <p:sldId xmlns:r="http://schemas.openxmlformats.org/officeDocument/2006/relationships" id="261" r:id="R19e2826dcf1b4e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37f22096f3497f" /><Relationship Type="http://schemas.openxmlformats.org/officeDocument/2006/relationships/slideMaster" Target="/ppt/slideMasters/slideMaster1.xml" Id="Ra1d6bf5cab804aea" /><Relationship Type="http://schemas.openxmlformats.org/officeDocument/2006/relationships/notesMaster" Target="/ppt/notesMasters/notesMaster1.xml" Id="R74a943f6a03c4c64" /><Relationship Type="http://schemas.openxmlformats.org/officeDocument/2006/relationships/presProps" Target="/ppt/presProps.xml" Id="R733d094c7e1a4b1c" /><Relationship Type="http://schemas.openxmlformats.org/officeDocument/2006/relationships/tableStyles" Target="/ppt/tableStyles.xml" Id="R8cfa6b28392a43f4" /><Relationship Type="http://schemas.openxmlformats.org/officeDocument/2006/relationships/slide" Target="/ppt/slides/slide1.xml" Id="R79a441e9178c448e" /><Relationship Type="http://schemas.openxmlformats.org/officeDocument/2006/relationships/slide" Target="/ppt/slides/slide2.xml" Id="Rfa47f714a7224dff" /><Relationship Type="http://schemas.openxmlformats.org/officeDocument/2006/relationships/slide" Target="/ppt/slides/slide3.xml" Id="R196c8af4edd643f7" /><Relationship Type="http://schemas.openxmlformats.org/officeDocument/2006/relationships/slide" Target="/ppt/slides/slide4.xml" Id="R2bb55ea7c1394fc7" /><Relationship Type="http://schemas.openxmlformats.org/officeDocument/2006/relationships/slide" Target="/ppt/slides/slide5.xml" Id="R02975dd0b217412e" /><Relationship Type="http://schemas.openxmlformats.org/officeDocument/2006/relationships/slide" Target="/ppt/slides/slide6.xml" Id="R19e2826dcf1b4e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d7ff21c25d42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c36bb56c504f5d" /><Relationship Type="http://schemas.openxmlformats.org/officeDocument/2006/relationships/notesMaster" Target="/ppt/notesMasters/notesMaster1.xml" Id="R8ad2fa9d572444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bebe9509554ef4" /><Relationship Type="http://schemas.openxmlformats.org/officeDocument/2006/relationships/notesMaster" Target="/ppt/notesMasters/notesMaster1.xml" Id="Rf3744068d59d41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ce0922f5ce460f" /><Relationship Type="http://schemas.openxmlformats.org/officeDocument/2006/relationships/notesMaster" Target="/ppt/notesMasters/notesMaster1.xml" Id="R131f107f8b044a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883497a75d44e9" /><Relationship Type="http://schemas.openxmlformats.org/officeDocument/2006/relationships/notesMaster" Target="/ppt/notesMasters/notesMaster1.xml" Id="Re01e5e8b3e494f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a347829c854a14" /><Relationship Type="http://schemas.openxmlformats.org/officeDocument/2006/relationships/notesMaster" Target="/ppt/notesMasters/notesMaster1.xml" Id="Rd2bc1c361dc44e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f6c136d654457b" /><Relationship Type="http://schemas.openxmlformats.org/officeDocument/2006/relationships/notesMaster" Target="/ppt/notesMasters/notesMaster1.xml" Id="R73a15b7d49504d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cerca de 45 segundos. Apresentar o problema: permitir troca de mensagens entre usuários locais, com o servidor responsável apenas pelo roteamento e pela gestão de contas e chaves públicas. A demonstração será feita em dois terminais.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cerca de 1 minuto e 15 segundos. Alice consulta a chave pública de Bob e confirma o fingerprint por outro canal. O cliente de Alice gera uma chave X25519 efêmera, deriva uma chave AES com HKDF, cifra o texto e assina o envelope com Ed25519. O servidor verifica a assinatura, armazena ciphertext enquanto a mensagem estiver pendente e roteia por WebSocket. Bob verifica a assinatura e decifra localmente. Após o ACK, o servidor remove o ciphertext.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cerca de 1 minuto. Cada usuário tem uma chave X25519 para recebimento e uma chave Ed25519 para assinatura. As chaves privadas ficam cifradas em arquivo local com uma senha própria. O servidor mantém só as chaves públicas. O fingerprint identifica o par de chaves públicas. O primeiro contato exige comparação independente porque o próprio servidor poderia apresentar uma chave falsa.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cerca de 1 minuto e 15 segundos. O usuário acessa apenas os endpoints e mensagens permitidos. O ID do remetente vem do JWT; o servidor aceita confirmação de entrega apenas do destinatário. Modelos Pydantic recusam campos extras e o ORM parametriza consultas. O PostgreSQL usa uma conta dona das tabelas e outra da aplicação com permissões específicas por tabela. A role da API não altera nem apaga auditoria. Os logs estruturados respondem quem, o quê, quando, onde e por quê.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a 3 minutos. Com o servidor já iniciado, cadastrar Alice e Bob e mostrar os fingerprints. Iniciar os dois chats em terminais separados. Enviar uma mensagem de Alice para Bob e mostrar que Bob recebe texto legível. Tentar GET /admin/users com JWT de Alice e mostrar 403. Com o administrador, abrir /admin/audit para mostrar o evento 5W. Se o tempo for curto, use contas previamente cadastradas.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cerca de 1 minuto. O servidor não recebe o texto original, mas continua sabendo quem conversa e quando. No primeiro contato, a comparação do fingerprint precisa acontecer fora do aplicativo. O protocolo não oferece sigilo retroativo completo: se a chave privada do destinatário vazar, cópias antigas do ciphertext ainda podem ser decifradas. O servidor remove mensagens após ACK e expira pendências em sete dias, mas isso não elimina cópias ou backups anteriores. O serviço é local, com um processo e rate limiting em memória. Pergunta para a turma: qual melhoria priorizaríamos primeiro?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3d88e825a140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e70e1af62b495f" /><Relationship Type="http://schemas.openxmlformats.org/officeDocument/2006/relationships/slideLayout" Target="/ppt/slideLayouts/slideLayout1.xml" Id="R589c7765abed43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9c7765abed43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b1377989e42b2" /><Relationship Type="http://schemas.openxmlformats.org/officeDocument/2006/relationships/image" Target="/ppt/media/image.png" Id="R0e49db1d8a154350" /><Relationship Type="http://schemas.openxmlformats.org/officeDocument/2006/relationships/notesSlide" Target="/ppt/notesSlides/notesSlide1.xml" Id="Rdf698d9fdd2845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74f6505c14aa6" /><Relationship Type="http://schemas.openxmlformats.org/officeDocument/2006/relationships/notesSlide" Target="/ppt/notesSlides/notesSlide2.xml" Id="R55c196341d8145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c2987b4df4a51" /><Relationship Type="http://schemas.openxmlformats.org/officeDocument/2006/relationships/notesSlide" Target="/ppt/notesSlides/notesSlide3.xml" Id="R9d547771bd7c4f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689629f924120" /><Relationship Type="http://schemas.openxmlformats.org/officeDocument/2006/relationships/notesSlide" Target="/ppt/notesSlides/notesSlide4.xml" Id="R4173cd057ef74e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e11ec14bc4e22" /><Relationship Type="http://schemas.openxmlformats.org/officeDocument/2006/relationships/notesSlide" Target="/ppt/notesSlides/notesSlide5.xml" Id="Ra00c591acd2b4f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471d6844a43e3" /><Relationship Type="http://schemas.openxmlformats.org/officeDocument/2006/relationships/notesSlide" Target="/ppt/notesSlides/notesSlide6.xml" Id="Rc70d05313be84d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9db1d8a15435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BE019-C46D-4C07-A5D3-C9F35E13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CypherChat E2EE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56059-52CA-4253-A0F0-18542AC1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9EB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C9EBF1"/>
                </a:solidFill>
                <a:latin typeface="Helvetica Neue"/>
                <a:ea typeface="Helvetica Neue"/>
                <a:cs typeface="Helvetica Neue"/>
              </a:rPr>
              <a:t>Mensagens em tempo real com criptografia ponta a ponta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5CBEA-3BBE-4C55-BD59-FD98D46E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9EB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C9EBF1"/>
                </a:solidFill>
                <a:latin typeface="Helvetica Neue"/>
                <a:ea typeface="Helvetica Neue"/>
                <a:cs typeface="Helvetica Neue"/>
              </a:rPr>
              <a:t>G1  ·  02/10/2026</a:t>
            </a:r>
          </a:p>
        </p:txBody>
      </p:sp>
    </p:spTree>
    <p:extLst>
      <p:ext uri="{BB962C8B-B14F-4D97-AF65-F5344CB8AC3E}">
        <p14:creationId xmlns:p14="http://schemas.microsoft.com/office/powerpoint/2010/main" val="1718229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4DB325-F27D-4BE1-8698-79259A8B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O caminho de uma mensagem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18FBC-7B8A-4052-9BE9-C7AC4E4A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B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87B8C"/>
                </a:solidFill>
                <a:latin typeface="Helvetica Neue"/>
                <a:ea typeface="Helvetica Neue"/>
                <a:cs typeface="Helvetica Neue"/>
              </a:rPr>
              <a:t>01  Alice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56DC8-098F-4FE3-8463-01584D3A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Confirma a chave de Bob</a:t>
            </a:r>
          </a:p>
          <a:p xmlns:a="http://schemas.openxmlformats.org/drawingml/2006/main">
            <a:pPr>
              <a:defRPr sz="210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Cifra e assina no cliente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89921-42FE-4BDF-8B88-13FF0833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B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87B8C"/>
                </a:solidFill>
                <a:latin typeface="Helvetica Neue"/>
                <a:ea typeface="Helvetica Neue"/>
                <a:cs typeface="Helvetica Neue"/>
              </a:rPr>
              <a:t>02  Servidor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B8AA09-F501-4F77-97B2-E5735B42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193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Valida o remetente</a:t>
            </a:r>
          </a:p>
          <a:p xmlns:a="http://schemas.openxmlformats.org/drawingml/2006/main">
            <a:pPr>
              <a:defRPr sz="210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Roteia o envelope cifrado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13CA7-9ED2-409C-9AD1-688C344A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145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B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87B8C"/>
                </a:solidFill>
                <a:latin typeface="Helvetica Neue"/>
                <a:ea typeface="Helvetica Neue"/>
                <a:cs typeface="Helvetica Neue"/>
              </a:rPr>
              <a:t>03  Bob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31AA8-D574-4F3B-BB81-C2000AD9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193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Verifica a assinatura</a:t>
            </a:r>
          </a:p>
          <a:p xmlns:a="http://schemas.openxmlformats.org/drawingml/2006/main">
            <a:pPr>
              <a:defRPr sz="210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Decifra no cliente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25D3F-A604-4C9D-AA7A-24EBDDB8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F64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4F6474"/>
                </a:solidFill>
                <a:latin typeface="Helvetica Neue"/>
                <a:ea typeface="Helvetica Neue"/>
                <a:cs typeface="Helvetica Neue"/>
              </a:rPr>
              <a:t>Enquanto pendente: ciphertext + nonce + chave efêmera + assinatura</a:t>
            </a:r>
          </a:p>
        </p:txBody>
      </p:sp>
    </p:spTree>
    <p:extLst>
      <p:ext uri="{BB962C8B-B14F-4D97-AF65-F5344CB8AC3E}">
        <p14:creationId xmlns:p14="http://schemas.microsoft.com/office/powerpoint/2010/main" val="17026618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273532-C81D-4F28-88AF-77266A32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Onde ficam as chaves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EFC3D-2333-4B12-AADD-9B62D9B8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7B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B8C"/>
                </a:solidFill>
                <a:latin typeface="Helvetica Neue"/>
                <a:ea typeface="Helvetica Neue"/>
                <a:cs typeface="Helvetica Neue"/>
              </a:rPr>
              <a:t>No cliente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52246-B31C-4499-8D6D-4C4F4FC6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4762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Chaves privadas cifradas</a:t>
            </a:r>
          </a:p>
          <a:p xmlns:a="http://schemas.openxmlformats.org/drawingml/2006/main">
            <a:pPr>
              <a:defRPr sz="210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Senha local + scrypt</a:t>
            </a:r>
          </a:p>
          <a:p xmlns:a="http://schemas.openxmlformats.org/drawingml/2006/main">
            <a:pPr>
              <a:defRPr sz="210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Texto original e texto decifrado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A9AD0-FB97-4424-9BDA-53AE808D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335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7B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B8C"/>
                </a:solidFill>
                <a:latin typeface="Helvetica Neue"/>
                <a:ea typeface="Helvetica Neue"/>
                <a:cs typeface="Helvetica Neue"/>
              </a:rPr>
              <a:t>No servidor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26E7A-2A86-42EA-8592-49E3D830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24125"/>
            <a:ext cx="4953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Chaves públicas e fingerprint</a:t>
            </a:r>
          </a:p>
          <a:p xmlns:a="http://schemas.openxmlformats.org/drawingml/2006/main">
            <a:pPr>
              <a:defRPr sz="210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Hash Argon2 da senha da conta</a:t>
            </a:r>
          </a:p>
          <a:p xmlns:a="http://schemas.openxmlformats.org/drawingml/2006/main">
            <a:pPr>
              <a:defRPr sz="210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Mensagens pendentes cifradas</a:t>
            </a:r>
          </a:p>
          <a:p xmlns:a="http://schemas.openxmlformats.org/drawingml/2006/main">
            <a:pPr>
              <a:defRPr sz="210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Metadados de comunicação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C4D34-1C0D-4278-AFCE-E10FA5F1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F64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4F6474"/>
                </a:solidFill>
                <a:latin typeface="Helvetica Neue"/>
                <a:ea typeface="Helvetica Neue"/>
                <a:cs typeface="Helvetica Neue"/>
              </a:rPr>
              <a:t>Primeiro contato: comparar o fingerprint por outro canal</a:t>
            </a:r>
          </a:p>
        </p:txBody>
      </p:sp>
    </p:spTree>
    <p:extLst>
      <p:ext uri="{BB962C8B-B14F-4D97-AF65-F5344CB8AC3E}">
        <p14:creationId xmlns:p14="http://schemas.microsoft.com/office/powerpoint/2010/main" val="14726874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1A306-F55E-47C5-842F-5C017D1D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Proteções da API e do banco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0DA81-ECEF-4804-9C8F-A3B1B8D2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7B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B8C"/>
                </a:solidFill>
                <a:latin typeface="Helvetica Neue"/>
                <a:ea typeface="Helvetica Neue"/>
                <a:cs typeface="Helvetica Neue"/>
              </a:rPr>
              <a:t>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C893B-A4FA-49CA-ACC1-8FFEA892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4762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JWT e roles por operação</a:t>
            </a:r>
          </a:p>
          <a:p xmlns:a="http://schemas.openxmlformats.org/drawingml/2006/main">
            <a:pPr>
              <a:defRPr sz="20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Remetente definido pelo token</a:t>
            </a:r>
          </a:p>
          <a:p xmlns:a="http://schemas.openxmlformats.org/drawingml/2006/main">
            <a:pPr>
              <a:defRPr sz="20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Campos extras recusados</a:t>
            </a:r>
          </a:p>
          <a:p xmlns:a="http://schemas.openxmlformats.org/drawingml/2006/main">
            <a:pPr>
              <a:defRPr sz="20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Limites de taxa e tamanho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2A85B-2283-4630-8675-56164B98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66875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7B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87B8C"/>
                </a:solidFill>
                <a:latin typeface="Helvetica Neue"/>
                <a:ea typeface="Helvetica Neue"/>
                <a:cs typeface="Helvetica Neue"/>
              </a:rPr>
              <a:t>Banco e auditoria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A4450-B76E-4FC7-B9BF-80880A10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28875"/>
            <a:ext cx="5048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PostgreSQL só em loopback</a:t>
            </a:r>
          </a:p>
          <a:p xmlns:a="http://schemas.openxmlformats.org/drawingml/2006/main">
            <a:pPr>
              <a:defRPr sz="20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Owner cria, app lê e grava</a:t>
            </a:r>
          </a:p>
          <a:p xmlns:a="http://schemas.openxmlformats.org/drawingml/2006/main">
            <a:pPr>
              <a:defRPr sz="20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Consultas via ORM</a:t>
            </a:r>
          </a:p>
          <a:p xmlns:a="http://schemas.openxmlformats.org/drawingml/2006/main">
            <a:pPr>
              <a:defRPr sz="20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Auditoria 5W</a:t>
            </a:r>
          </a:p>
        </p:txBody>
      </p:sp>
    </p:spTree>
    <p:extLst>
      <p:ext uri="{BB962C8B-B14F-4D97-AF65-F5344CB8AC3E}">
        <p14:creationId xmlns:p14="http://schemas.microsoft.com/office/powerpoint/2010/main" val="13693610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7C42E-A925-4E23-9F5E-76AB1D98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Demonstração ao vivo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266B6-C396-462E-AA11-047683D3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87B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87B8C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0EACC-FF5A-4032-9394-CC22CEC5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43075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Cadastrar Alice e Bob; comparar fingerprints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053C2-B3DD-4891-94C5-79198502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87B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87B8C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9B2E0E-A185-4FB3-BB90-70CBF3E2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432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Trocar uma mensagem em dois terminais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ACA8E-D902-45BE-9CFB-098C321C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87B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87B8C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649ECD-6851-4066-A4D4-703956FB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43325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Mostrar 403 para /admin/users com token comum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3220C-C42C-4E9F-A7A0-7599F23A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87B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87B8C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AB918-3D0C-4AE1-9045-0D838629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434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Mostrar o evento de auditoria 5W</a:t>
            </a:r>
          </a:p>
        </p:txBody>
      </p:sp>
    </p:spTree>
    <p:extLst>
      <p:ext uri="{BB962C8B-B14F-4D97-AF65-F5344CB8AC3E}">
        <p14:creationId xmlns:p14="http://schemas.microsoft.com/office/powerpoint/2010/main" val="12390373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8EA586-1267-4B0D-85F4-682F10CE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Limites do protótipo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1B971-8320-4E74-A3DE-5DF9A98B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87B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087B8C"/>
                </a:solidFill>
                <a:latin typeface="Helvetica Neue"/>
                <a:ea typeface="Helvetica Neue"/>
                <a:cs typeface="Helvetica Neue"/>
              </a:rPr>
              <a:t>Metadados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8B73A-E3E3-44F7-AAC1-0CDD0364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O servidor vê usuários, horários e tamanhos.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CA450-1A58-4401-BBDD-10A5AD3B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87B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087B8C"/>
                </a:solidFill>
                <a:latin typeface="Helvetica Neue"/>
                <a:ea typeface="Helvetica Neue"/>
                <a:cs typeface="Helvetica Neue"/>
              </a:rPr>
              <a:t>Confiança inicial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26770-F870-45BF-B426-1A76A972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O fingerprint exige confirmação por outro canal.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230C2-8F90-4703-855B-50E43B27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87B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087B8C"/>
                </a:solidFill>
                <a:latin typeface="Helvetica Neue"/>
                <a:ea typeface="Helvetica Neue"/>
                <a:cs typeface="Helvetica Neue"/>
              </a:rPr>
              <a:t>Chaves comprometidas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9E666-D902-4912-B17A-8D544D1E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Cópias antigas podem ser decifradas se a chave de Bob vazar.</a:t>
            </a:r>
          </a:p>
        </p:txBody>
      </p:sp>
    </p:spTree>
    <p:extLst>
      <p:ext uri="{BB962C8B-B14F-4D97-AF65-F5344CB8AC3E}">
        <p14:creationId xmlns:p14="http://schemas.microsoft.com/office/powerpoint/2010/main" val="11396338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2026-09-29T20:52:06.1880000Z</dcterms:created>
  <dcterms:modified xsi:type="dcterms:W3CDTF">2026-09-29T20:52:06.1880000Z</dcterms:modified>
</coreProperties>
</file>